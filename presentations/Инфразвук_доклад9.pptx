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00000"/>
                </a:solidFill>
                <a:latin typeface="Arial"/>
              </a:rPr>
              <a:t>Длина волны в воздухе, 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λ, м</c:v>
                </c:pt>
              </c:strCache>
            </c:strRef>
          </c:tx>
          <c:spPr>
            <a:solidFill>
              <a:srgbClr val="0F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Гц</c:v>
                  </c:pt>
                  <c:pt idx="1">
                    <c:v>2 Гц</c:v>
                  </c:pt>
                  <c:pt idx="2">
                    <c:v>4 Гц</c:v>
                  </c:pt>
                  <c:pt idx="3">
                    <c:v>8 Гц</c:v>
                  </c:pt>
                  <c:pt idx="4">
                    <c:v>16 Гц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340</c:v>
                </c:pt>
                <c:pt idx="1">
                  <c:v>170</c:v>
                </c:pt>
                <c:pt idx="2">
                  <c:v>85</c:v>
                </c:pt>
                <c:pt idx="3">
                  <c:v>42.5</c:v>
                </c:pt>
                <c:pt idx="4">
                  <c:v>21.3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00000"/>
                </a:solidFill>
                <a:latin typeface="Arial"/>
              </a:rPr>
              <a:t>Уровень звукового давления, дБ (Лин)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дБ (Лин)</c:v>
                </c:pt>
              </c:strCache>
            </c:strRef>
          </c:tx>
          <c:spPr>
            <a:solidFill>
              <a:srgbClr val="0F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7A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Жилая застройка</c:v>
                  </c:pt>
                  <c:pt idx="1">
                    <c:v>Производство</c:v>
                  </c:pt>
                  <c:pt idx="2">
                    <c:v>Повреждения тканей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100</c:v>
                </c:pt>
                <c:pt idx="2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№9. Биоакустика — инфразвук.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Биоакустика — это раздел акустики, изучающий звуковые процессы в живых организмах, а также воздействие звука на биологические объекты. Звук — механические колебания упругой среды. По частоте: слышимый (16 Гц – 20 кГц), ультразвук (более 20 кГц) и инфразвук (менее 16 Гц).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Инфразвук (от лат. infra — ниже, под) — это упругие волны с частотами ниже 16 Гц. Из-за большой длины волны (для 1 Гц около 340 метров) он обладает рядом уникальных свойств.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Малое поглощение: коэффициент поглощения пропорционален квадрату частоты, поэтому инфразвук практически не поглощается. Огибание препятствий: длина волны ~340 м при 1 Гц. Резонанс: 4–6 Гц — грудная клетка, 6–8 Гц — брюшная полость. Слабая связь с интенсивностью: инфразвук требует огромных источников для высоких уровней звукового давления.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Поскольку инфразвук имеет низкую частоту, он практически не поглощается воздухом, водой и земной корой. Это позволяет ему распространяться на сотни и тысячи километров. Из-за большой длины волны инфразвук огибает препятствия, размеры которых меньше длины волны, не отражаясь и не рассеиваясь.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Частоты инфразвука совпадают с собственными частотами колебаний внутренних органов человека: 4–6 Гц — грудная клетка, 6–8 Гц — брюшная полость. Это вызывает резкое увеличение амплитуды колебаний органов. Наибольшую опасность представляют частоты от 2 до 15 Гц.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Метеорологические источники: колебания атмосферного давления, грозовые разряды, сильный ветер (особенно обтекание препятствий), ураганы и штормы. Геологические: землетрясения, извержения вулканов, оползни, лавины. Инфразвуковые волны от землетрясений распространяются на тысячи километров.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Некоторые виды животных (слоны, киты, жирафы) используют инфразвук для коммуникации на больших расстояниях.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Промышленность: компрессоры, вентиляторы, дизельные двигатели, доменные печи, виброплощадки. Транспорт: тяжелый транспорт, поезда, авиационные двигатели, ракеты. Строительство: взрывные работы, тяжелая техника. Быт: стиральные машины, вытяжки могут генерировать слабый инфразвук.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Влияние инфразвука зависит от частоты, интенсивности и длительности воздействия. 1) Механический резонанс. 2) Воздействие на вестибулярный аппарат: иллюзия движения, головокружение, тошнота. 3) Воздействие на ЦНС: даже при низких интенсивностях угнетение ЦНС, снижение внимания, работоспособности, тревога, страх, депрессия.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Астенический синдром: повышенная утомляемость, головные боли, раздражительность. Вегетативные расстройства: нарушения сердечного ритма, артериального давления, потливость. Сенсорные нарушения: шум в ушах, снижение слуха. «Инфразвуковая болезнь»: тошнота, головокружение, боли в животе, чувство вибрации внутренних органов.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России действуют санитарные нормы СН 2.2.4/2.1.8.583-96. Нормирование в октавных полосах 2, 4, 8 и 16 Гц. Жилая застройка: общий уровень не более 90 дБ (Лин). Производственные помещения: 100 дБ (Лин) в полосах 2–16 Гц. При превышении — виброизоляция, звукоизоляция, дистанционное управление. Инфразвук более 130–150 дБ может вызывать физические повреждения (разрыв тканей, кровоизлияния).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Инфразвук является неотъемлемой частью окружающей среды, однако его техногенное нарастание представляет серьезную гигиеническую проблему. Он требует строгого нормирования и разработки мер защиты (глушители, виброизоляция, СИЗ). Дальнейшее изучение биоакустики инфразвука важно для безопасности труда и сохранения здоровья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ightn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№ 9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Биоакустика.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Инфразвук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Медицинская и биологическая физика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D9EC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&lt; 16 Гц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Биоакустика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раздел акустики, изучающий звуковые процессы в живых организмах и воздействие звука на биологические объекты.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механические колебания упругой среды. По частоте различают слышимый звук, ультразвук и инфразвук.</a:t>
            </a:r>
            <a:endParaRPr lang="en-US" sz="1800" dirty="0"/>
          </a:p>
        </p:txBody>
      </p:sp>
      <p:pic>
        <p:nvPicPr>
          <p:cNvPr id="4" name="Image 0" descr="img/oscill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280160"/>
            <a:ext cx="4965192" cy="2651760"/>
          </a:xfrm>
          <a:prstGeom prst="rect">
            <a:avLst/>
          </a:prstGeom>
        </p:spPr>
      </p:pic>
      <p:pic>
        <p:nvPicPr>
          <p:cNvPr id="5" name="Image 1" descr="img/c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0"/>
            <a:ext cx="11091672" cy="2310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инфразвук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Инфразвук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(лат. infra — ниже, под) — упругие волны с частотой ниже 16 Гц.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Длина волны обратно пропорциональна частоте: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D9EC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v / f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340 м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длина волны частотой 1 Гц в воздухе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(скорость звука v ≈ 340 м/с)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0" y="1280160"/>
          <a:ext cx="5696712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Особые свойства инфразвука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F2F4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410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Малое поглощение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не поглощается воздухом, водой и земной корой — проходит тысячи километров.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132588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F2F4F5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17410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Огибание препятствий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длина волны позволяет огибать препятствия (дифракция) без отражения и рассеяния.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F2F4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443849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Резонанс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623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Частоты совпадают с собственными частотами внутренних органов человека.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251960" y="40233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F2F4F5"/>
          </a:solidFill>
          <a:ln/>
        </p:spPr>
      </p:sp>
      <p:sp>
        <p:nvSpPr>
          <p:cNvPr id="19" name="Shape 14"/>
          <p:cNvSpPr/>
          <p:nvPr/>
        </p:nvSpPr>
        <p:spPr>
          <a:xfrm>
            <a:off x="4526280" y="4297680"/>
            <a:ext cx="640080" cy="64008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098" y="443849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2628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Слабая связь с интенсивностью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5623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отличие от ультразвука, для высоких уровней давления нужны огромные источники.</a:t>
            </a:r>
            <a:endParaRPr lang="en-US" sz="1300" dirty="0"/>
          </a:p>
        </p:txBody>
      </p:sp>
      <p:pic>
        <p:nvPicPr>
          <p:cNvPr id="23" name="Image 4" descr="img/hurrican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55280" y="1325880"/>
            <a:ext cx="3687775" cy="51206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2440" y="5897880"/>
            <a:ext cx="2194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02168" y="5897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Ураган (вид с МКС)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Распространение на огромные расстояния</a:t>
            </a:r>
            <a:endParaRPr lang="en-US" sz="3600" dirty="0"/>
          </a:p>
        </p:txBody>
      </p:sp>
      <p:pic>
        <p:nvPicPr>
          <p:cNvPr id="3" name="Image 0" descr="img/c_abso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20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поглощения звука в атмосфере пропорционален квадрату частоты: чем ниже частота, тем меньше потери.</a:t>
            </a:r>
            <a:endParaRPr lang="en-US" sz="1500" dirty="0"/>
          </a:p>
        </p:txBody>
      </p:sp>
      <p:pic>
        <p:nvPicPr>
          <p:cNvPr id="5" name="Image 1" descr="img/infrasoun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422392" cy="3017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55080" y="3794760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64808" y="3794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Инфразвуковая станция IS50, о. Вознесения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526280"/>
            <a:ext cx="5422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Инфразвук проходит сотни и тысячи километров — его регистрируют сетью станций по всему миру.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Волна длиной сотни метров огибает здания, холмы и другие препятствия меньшего размера.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Резонанс внутренних органов</a:t>
            </a:r>
            <a:endParaRPr lang="en-US" sz="3600" dirty="0"/>
          </a:p>
        </p:txBody>
      </p:sp>
      <p:pic>
        <p:nvPicPr>
          <p:cNvPr id="3" name="Image 0" descr="img/orga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3657600" cy="5074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63440" y="1325880"/>
            <a:ext cx="6976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частота инфразвука совпадает с собственной частотой колебаний органа, амплитуда его колебаний резко возрастает.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663440" y="2514600"/>
            <a:ext cx="2148840" cy="1920240"/>
          </a:xfrm>
          <a:prstGeom prst="roundRect">
            <a:avLst>
              <a:gd name="adj" fmla="val 5714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663440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Гц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800600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грудная клетка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077456" y="2514600"/>
            <a:ext cx="2148840" cy="1920240"/>
          </a:xfrm>
          <a:prstGeom prst="roundRect">
            <a:avLst>
              <a:gd name="adj" fmla="val 5714"/>
            </a:avLst>
          </a:prstGeom>
          <a:solidFill>
            <a:srgbClr val="F2F4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77456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Гц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214616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брюшная полость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491472" y="2514600"/>
            <a:ext cx="2148840" cy="1920240"/>
          </a:xfrm>
          <a:prstGeom prst="roundRect">
            <a:avLst>
              <a:gd name="adj" fmla="val 5714"/>
            </a:avLst>
          </a:prstGeom>
          <a:solidFill>
            <a:srgbClr val="D9EC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491472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2–15 Гц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628632" y="3611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наиболее опасный диапазон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4800600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смещение и деформация органов, раздражение механорецепторов, при высоких уровнях — повреждение тканей.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Природные источники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Метеорологические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Колебания атмосферного давления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Грозовые разряды</a:t>
            </a:r>
            <a:endParaRPr lang="en-US" sz="19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ветер, ураганы, штормы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Геологические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Землетрясения — волны на тысячи км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Извержения вулканов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Оползни и лавины</a:t>
            </a:r>
            <a:endParaRPr lang="en-US" sz="1900" dirty="0"/>
          </a:p>
        </p:txBody>
      </p:sp>
      <p:pic>
        <p:nvPicPr>
          <p:cNvPr id="4" name="Image 0" descr="img/torna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325880"/>
            <a:ext cx="3329788" cy="2423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92040" y="3227832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01768" y="3227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Смерч</a:t>
            </a:r>
            <a:endParaRPr lang="en-US" sz="1300" dirty="0"/>
          </a:p>
        </p:txBody>
      </p:sp>
      <p:pic>
        <p:nvPicPr>
          <p:cNvPr id="7" name="Image 1" descr="img/lightn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13268" y="1325880"/>
            <a:ext cx="3329788" cy="2423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50428" y="3227832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560156" y="3227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Гроза</a:t>
            </a:r>
            <a:endParaRPr lang="en-US" sz="1300" dirty="0"/>
          </a:p>
        </p:txBody>
      </p:sp>
      <p:pic>
        <p:nvPicPr>
          <p:cNvPr id="10" name="Image 2" descr="img/volcan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3977640"/>
            <a:ext cx="3329788" cy="24231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892040" y="5879592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001768" y="5879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Извержение вулкана</a:t>
            </a:r>
            <a:endParaRPr lang="en-US" sz="1300" dirty="0"/>
          </a:p>
        </p:txBody>
      </p:sp>
      <p:pic>
        <p:nvPicPr>
          <p:cNvPr id="13" name="Image 3" descr="img/earthquak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13268" y="3977640"/>
            <a:ext cx="3329788" cy="24231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450428" y="5879592"/>
            <a:ext cx="2377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560156" y="5879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Землетрясение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Биологические источники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Некоторые животные используют инфразвук для общения на больших расстояниях.</a:t>
            </a:r>
            <a:endParaRPr lang="en-US" sz="1800" dirty="0"/>
          </a:p>
        </p:txBody>
      </p:sp>
      <p:pic>
        <p:nvPicPr>
          <p:cNvPr id="4" name="Image 0" descr="img/elepha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3515258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Слоны</a:t>
            </a:r>
            <a:endParaRPr lang="en-US" sz="2200" dirty="0"/>
          </a:p>
        </p:txBody>
      </p:sp>
      <p:pic>
        <p:nvPicPr>
          <p:cNvPr id="6" name="Image 1" descr="img/wha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38218" y="1920240"/>
            <a:ext cx="3515258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38218" y="576072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Киты</a:t>
            </a:r>
            <a:endParaRPr lang="en-US" sz="2200" dirty="0"/>
          </a:p>
        </p:txBody>
      </p:sp>
      <p:pic>
        <p:nvPicPr>
          <p:cNvPr id="8" name="Image 2" descr="img/giraff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7797" y="1920240"/>
            <a:ext cx="3515258" cy="37490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27797" y="576072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Жирафы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Техногенные источники</a:t>
            </a:r>
            <a:endParaRPr lang="en-US" sz="3600" dirty="0"/>
          </a:p>
        </p:txBody>
      </p:sp>
      <p:pic>
        <p:nvPicPr>
          <p:cNvPr id="3" name="Image 0" descr="img/f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2602154" cy="1874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246120"/>
            <a:ext cx="2602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Вентиляторы, компрессоры</a:t>
            </a:r>
            <a:endParaRPr lang="en-US" sz="1500" dirty="0"/>
          </a:p>
        </p:txBody>
      </p:sp>
      <p:pic>
        <p:nvPicPr>
          <p:cNvPr id="5" name="Image 1" descr="img/furnac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79394" y="1280160"/>
            <a:ext cx="2602154" cy="1874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379394" y="3246120"/>
            <a:ext cx="2602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Доменные печи</a:t>
            </a:r>
            <a:endParaRPr lang="en-US" sz="1500" dirty="0"/>
          </a:p>
        </p:txBody>
      </p:sp>
      <p:pic>
        <p:nvPicPr>
          <p:cNvPr id="7" name="Image 2" descr="img/je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0148" y="1280160"/>
            <a:ext cx="2602154" cy="18745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10148" y="3246120"/>
            <a:ext cx="2602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Авиадвигатели</a:t>
            </a:r>
            <a:endParaRPr lang="en-US" sz="1500" dirty="0"/>
          </a:p>
        </p:txBody>
      </p:sp>
      <p:pic>
        <p:nvPicPr>
          <p:cNvPr id="9" name="Image 3" descr="img/rocke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40901" y="1280160"/>
            <a:ext cx="2602154" cy="18745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040901" y="3246120"/>
            <a:ext cx="2602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Ракеты</a:t>
            </a:r>
            <a:endParaRPr lang="en-US" sz="1500" dirty="0"/>
          </a:p>
        </p:txBody>
      </p:sp>
      <p:pic>
        <p:nvPicPr>
          <p:cNvPr id="11" name="Image 4" descr="img/trai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3886200"/>
            <a:ext cx="2602154" cy="18745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48640" y="5852160"/>
            <a:ext cx="2602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Поезда</a:t>
            </a:r>
            <a:endParaRPr lang="en-US" sz="1500" dirty="0"/>
          </a:p>
        </p:txBody>
      </p:sp>
      <p:pic>
        <p:nvPicPr>
          <p:cNvPr id="13" name="Image 5" descr="img/truck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79394" y="3886200"/>
            <a:ext cx="2602154" cy="18745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79394" y="5852160"/>
            <a:ext cx="2602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Тяжёлая техника</a:t>
            </a:r>
            <a:endParaRPr lang="en-US" sz="1500" dirty="0"/>
          </a:p>
        </p:txBody>
      </p:sp>
      <p:pic>
        <p:nvPicPr>
          <p:cNvPr id="15" name="Image 6" descr="img/wash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10148" y="3886200"/>
            <a:ext cx="2602154" cy="187452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210148" y="5852160"/>
            <a:ext cx="2602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Стиральные машины</a:t>
            </a:r>
            <a:endParaRPr lang="en-US" sz="1500" dirty="0"/>
          </a:p>
        </p:txBody>
      </p:sp>
      <p:sp>
        <p:nvSpPr>
          <p:cNvPr id="17" name="Shape 8"/>
          <p:cNvSpPr/>
          <p:nvPr/>
        </p:nvSpPr>
        <p:spPr>
          <a:xfrm>
            <a:off x="9040901" y="3886200"/>
            <a:ext cx="2602154" cy="2377440"/>
          </a:xfrm>
          <a:prstGeom prst="roundRect">
            <a:avLst>
              <a:gd name="adj" fmla="val 4615"/>
            </a:avLst>
          </a:prstGeom>
          <a:solidFill>
            <a:srgbClr val="D9ECEE"/>
          </a:solidFill>
          <a:ln/>
        </p:spPr>
      </p:sp>
      <p:sp>
        <p:nvSpPr>
          <p:cNvPr id="18" name="Text 9"/>
          <p:cNvSpPr txBox="1"/>
          <p:nvPr/>
        </p:nvSpPr>
        <p:spPr>
          <a:xfrm>
            <a:off x="9223781" y="4114800"/>
            <a:ext cx="228211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Промышленность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Строительство (взрывные работы)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воздействия на организм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3" y="1588313"/>
            <a:ext cx="435254" cy="435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173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Механический резонанс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74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Смещение и деформация органов, раздражение механорецепторов.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777240" cy="77724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3" y="3188513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3017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Вестибулярный аппарат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474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 работы отолитового аппарата: иллюзия движения, головокружение, тошнота.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3" y="4788713"/>
            <a:ext cx="435254" cy="435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617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Центральная нервная система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5074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при низкой интенсивности: снижение внимания и работоспособности, тревога, страх, депрессия.</a:t>
            </a:r>
            <a:endParaRPr lang="en-US" sz="1500" dirty="0"/>
          </a:p>
        </p:txBody>
      </p:sp>
      <p:pic>
        <p:nvPicPr>
          <p:cNvPr id="15" name="Image 3" descr="img/dizz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80960" y="1325880"/>
            <a:ext cx="396209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Клинические проявления</a:t>
            </a:r>
            <a:endParaRPr lang="en-US" sz="3600" dirty="0"/>
          </a:p>
        </p:txBody>
      </p:sp>
      <p:pic>
        <p:nvPicPr>
          <p:cNvPr id="3" name="Image 0" descr="img/headac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4206240" cy="5029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3258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длительном воздействии: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120640" y="1920240"/>
            <a:ext cx="3124048" cy="2103120"/>
          </a:xfrm>
          <a:prstGeom prst="roundRect">
            <a:avLst>
              <a:gd name="adj" fmla="val 5217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94960" y="2194560"/>
            <a:ext cx="2575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Астенический синдром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2971800"/>
            <a:ext cx="2575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Утомляемость, головные боли, раздражительность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19008" y="1920240"/>
            <a:ext cx="3124048" cy="2103120"/>
          </a:xfrm>
          <a:prstGeom prst="roundRect">
            <a:avLst>
              <a:gd name="adj" fmla="val 5217"/>
            </a:avLst>
          </a:prstGeom>
          <a:solidFill>
            <a:srgbClr val="F2F4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93328" y="2194560"/>
            <a:ext cx="2575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Вегетативные расстройства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93328" y="2971800"/>
            <a:ext cx="2575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Нарушения ритма сердца и давления, потливость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4251960"/>
            <a:ext cx="3124048" cy="2103120"/>
          </a:xfrm>
          <a:prstGeom prst="roundRect">
            <a:avLst>
              <a:gd name="adj" fmla="val 5217"/>
            </a:avLst>
          </a:prstGeom>
          <a:solidFill>
            <a:srgbClr val="F2F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0" y="4526280"/>
            <a:ext cx="2575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Сенсорные нарушения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5303520"/>
            <a:ext cx="2575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 в ушах, снижение слуха при очень высоких уровнях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19008" y="4251960"/>
            <a:ext cx="3124048" cy="2103120"/>
          </a:xfrm>
          <a:prstGeom prst="roundRect">
            <a:avLst>
              <a:gd name="adj" fmla="val 5217"/>
            </a:avLst>
          </a:prstGeom>
          <a:solidFill>
            <a:srgbClr val="D9EC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93328" y="4526280"/>
            <a:ext cx="2575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«Инфразвуковая болезнь»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793328" y="5303520"/>
            <a:ext cx="2575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Тошнота, головокружение, боли в животе, вибрация органов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Предельно допустимые уровни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5836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309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130–150 дБ и выше — разрывы тканей, кровоизлияния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371600"/>
            <a:ext cx="4050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 2.2.4/2.1.8.583-96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Нормирование в октавных полосах со среднегеометрическими частотами: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589520" y="2697480"/>
            <a:ext cx="868680" cy="594360"/>
          </a:xfrm>
          <a:prstGeom prst="roundRect">
            <a:avLst>
              <a:gd name="adj" fmla="val 15385"/>
            </a:avLst>
          </a:prstGeom>
          <a:solidFill>
            <a:srgbClr val="D9EC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26974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Гц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13648" y="2697480"/>
            <a:ext cx="868680" cy="594360"/>
          </a:xfrm>
          <a:prstGeom prst="roundRect">
            <a:avLst>
              <a:gd name="adj" fmla="val 15385"/>
            </a:avLst>
          </a:prstGeom>
          <a:solidFill>
            <a:srgbClr val="D9EC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13648" y="26974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Гц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37776" y="2697480"/>
            <a:ext cx="868680" cy="594360"/>
          </a:xfrm>
          <a:prstGeom prst="roundRect">
            <a:avLst>
              <a:gd name="adj" fmla="val 15385"/>
            </a:avLst>
          </a:prstGeom>
          <a:solidFill>
            <a:srgbClr val="D9EC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37776" y="26974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Гц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661904" y="2697480"/>
            <a:ext cx="868680" cy="594360"/>
          </a:xfrm>
          <a:prstGeom prst="roundRect">
            <a:avLst>
              <a:gd name="adj" fmla="val 15385"/>
            </a:avLst>
          </a:prstGeom>
          <a:solidFill>
            <a:srgbClr val="D9EC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661904" y="26974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Гц</a:t>
            </a:r>
            <a:endParaRPr lang="en-US" sz="1500" dirty="0"/>
          </a:p>
        </p:txBody>
      </p:sp>
      <p:pic>
        <p:nvPicPr>
          <p:cNvPr id="14" name="Image 0" descr="img/met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89520" y="3611880"/>
            <a:ext cx="1280160" cy="2743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144000" y="3749040"/>
            <a:ext cx="24963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превышении ПДУ: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виброизоляция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звукоизоляция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дистанционное управление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wi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03520" y="4114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303520" y="1371600"/>
            <a:ext cx="6336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Инфразвук — неотъемлемая часть окружающей среды, но его техногенный рост — серьёзная гигиеническая проблема. Он распространяется на большие расстояния, проникает в организм и вызывает резонанс органов, поэтому требует строгого нормирования и мер защиты.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5303520" y="41148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2F4F5"/>
          </a:solidFill>
          <a:ln/>
        </p:spPr>
      </p:sp>
      <p:sp>
        <p:nvSpPr>
          <p:cNvPr id="6" name="Shape 3"/>
          <p:cNvSpPr/>
          <p:nvPr/>
        </p:nvSpPr>
        <p:spPr>
          <a:xfrm>
            <a:off x="5852160" y="4389120"/>
            <a:ext cx="822960" cy="82296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211" y="4570171"/>
            <a:ext cx="460858" cy="4608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03520" y="5440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Глушители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52360" y="41148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2F4F5"/>
          </a:solidFill>
          <a:ln/>
        </p:spPr>
      </p:sp>
      <p:sp>
        <p:nvSpPr>
          <p:cNvPr id="10" name="Shape 6"/>
          <p:cNvSpPr/>
          <p:nvPr/>
        </p:nvSpPr>
        <p:spPr>
          <a:xfrm>
            <a:off x="8001000" y="4389120"/>
            <a:ext cx="822960" cy="82296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051" y="4570171"/>
            <a:ext cx="460858" cy="46085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52360" y="5440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Виброизоляция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9601200" y="41148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2F4F5"/>
          </a:solidFill>
          <a:ln/>
        </p:spPr>
      </p:sp>
      <p:sp>
        <p:nvSpPr>
          <p:cNvPr id="14" name="Shape 9"/>
          <p:cNvSpPr/>
          <p:nvPr/>
        </p:nvSpPr>
        <p:spPr>
          <a:xfrm>
            <a:off x="10149840" y="4389120"/>
            <a:ext cx="822960" cy="822960"/>
          </a:xfrm>
          <a:prstGeom prst="ellipse">
            <a:avLst/>
          </a:prstGeom>
          <a:solidFill>
            <a:srgbClr val="0F6E7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891" y="4570171"/>
            <a:ext cx="460858" cy="46085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01200" y="5440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СИЗ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литературы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Методическое пособие «Физика. Практикум». Разделы: Биоакустика: ультразвук (с. 85–99); Биоакустика: инфразвук (с. 99–104).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по биоакустике.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Ремизов А. Н. Медицинская и биологическая физика.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Федорова В. Н., Фаустов Е. В. Медицинская и биологическая физика.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Антонов В. Ф., Козлова Е. К., Черныш А. М. Физика и биофизика.</a:t>
            </a:r>
            <a:endParaRPr lang="en-US" sz="1600" dirty="0"/>
          </a:p>
        </p:txBody>
      </p:sp>
      <p:pic>
        <p:nvPicPr>
          <p:cNvPr id="4" name="Image 0" descr="img/elepha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325880"/>
            <a:ext cx="3962095" cy="2926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457200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Фото: Wikimedia Commons (свободные лицензии)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Биоакустика. Инфразвук</dc:title>
  <dc:subject>PptxGenJS Presentation</dc:subject>
  <dc:creator>PptxGenJS</dc:creator>
  <cp:lastModifiedBy>PptxGenJS</cp:lastModifiedBy>
  <cp:revision>1</cp:revision>
  <dcterms:created xsi:type="dcterms:W3CDTF">2026-09-30T18:53:48Z</dcterms:created>
  <dcterms:modified xsi:type="dcterms:W3CDTF">2026-09-30T18:53:48Z</dcterms:modified>
</cp:coreProperties>
</file>